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ndered desig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12200000" y="0"/>
            <a:ext cx="40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082B59"/>
                </a:solidFill>
              </a:rPr>
              <a:t>CryoStack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200000" y="900000"/>
            <a:ext cx="6000000" cy="1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172033"/>
                </a:solidFill>
              </a:rPr>
              <a:t>Ice-sheet modeling without the setup barrier</a:t>
            </a:r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ndered desig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12200000" y="0"/>
            <a:ext cx="40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082B59"/>
                </a:solidFill>
              </a:rPr>
              <a:t>The Problem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200000" y="900000"/>
            <a:ext cx="6000000" cy="1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172033"/>
                </a:solidFill>
              </a:rPr>
              <a:t>Dependencies → Compilation → HPC configuration → Slurm → Model workflow → Simulation</a:t>
            </a:r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ndered desig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12200000" y="0"/>
            <a:ext cx="40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082B59"/>
                </a:solidFill>
              </a:rPr>
              <a:t>From browser to HPC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200000" y="900000"/>
            <a:ext cx="6000000" cy="1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172033"/>
                </a:solidFill>
              </a:rPr>
              <a:t>Browser → CryoStack → CryoStack Connector → HPC / Slurm → Ice-sheet model → Results</a:t>
            </a:r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ndered desig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12200000" y="0"/>
            <a:ext cx="40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082B59"/>
                </a:solidFill>
              </a:rPr>
              <a:t>Set up your account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200000" y="900000"/>
            <a:ext cx="6000000" cy="1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172033"/>
                </a:solidFill>
              </a:rPr>
              <a:t>Sign in → Select resource → Enter personal HPC settings</a:t>
            </a:r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ndered desig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12200000" y="0"/>
            <a:ext cx="40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082B59"/>
                </a:solidFill>
              </a:rPr>
              <a:t>Pair the Connector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200000" y="900000"/>
            <a:ext cx="6000000" cy="1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172033"/>
                </a:solidFill>
              </a:rPr>
              <a:t>Connector Setup → Download → Launch → Pair → Connected</a:t>
            </a:r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ndered desig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12200000" y="0"/>
            <a:ext cx="40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082B59"/>
                </a:solidFill>
              </a:rPr>
              <a:t>Configure SquareIceShelf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200000" y="900000"/>
            <a:ext cx="6000000" cy="1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172033"/>
                </a:solidFill>
              </a:rPr>
              <a:t>Basic → Remote → ISSM → SquareIceShelf → HPC resources</a:t>
            </a:r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ndered desig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12200000" y="0"/>
            <a:ext cx="40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082B59"/>
                </a:solidFill>
              </a:rPr>
              <a:t>Launch and follow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200000" y="900000"/>
            <a:ext cx="6000000" cy="1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172033"/>
                </a:solidFill>
              </a:rPr>
              <a:t>Run Plan → Run → Connector → Slurm job → Run Log → Results</a:t>
            </a:r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ndered desig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12200000" y="0"/>
            <a:ext cx="40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082B59"/>
                </a:solidFill>
              </a:rPr>
              <a:t>Explore CryoStack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200000" y="900000"/>
            <a:ext cx="6000000" cy="1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172033"/>
                </a:solidFill>
              </a:rPr>
              <a:t>CryoLauncher  |  ICESEE  |  LIVIST  |  Frozen Legacies</a:t>
            </a:r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ndered desig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12200000" y="0"/>
            <a:ext cx="40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082B59"/>
                </a:solidFill>
              </a:rPr>
              <a:t>One managed workflow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200000" y="900000"/>
            <a:ext cx="6000000" cy="1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172033"/>
                </a:solidFill>
              </a:rPr>
              <a:t>Configure → Launch → Monitor → Visualize → Download</a:t>
            </a:r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endered desig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12200000" y="0"/>
            <a:ext cx="40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082B59"/>
                </a:solidFill>
              </a:rPr>
              <a:t>Try CryoStack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200000" y="900000"/>
            <a:ext cx="6000000" cy="1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172033"/>
                </a:solidFill>
              </a:rPr>
              <a:t>cryostack.eas.gatech.edu</a:t>
            </a:r>
            <a:br/>
            <a:r>
              <a:rPr lang="en-US" sz="1800" b="0">
                <a:solidFill>
                  <a:srgbClr val="172033"/>
                </a:solidFill>
              </a:rPr>
              <a:t>cryostack.eas.gatech.edu/documentation/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CryoStack">
  <a:themeElements>
    <a:clrScheme name="CryoStack">
      <a:dk1>
        <a:srgbClr val="082B59"/>
      </a:dk1>
      <a:lt1>
        <a:srgbClr val="FFFFFF"/>
      </a:lt1>
      <a:dk2>
        <a:srgbClr val="172033"/>
      </a:dk2>
      <a:lt2>
        <a:srgbClr val="F8FBFD"/>
      </a:lt2>
      <a:accent1>
        <a:srgbClr val="087EEB"/>
      </a:accent1>
      <a:accent2>
        <a:srgbClr val="24B8E8"/>
      </a:accent2>
      <a:accent3>
        <a:srgbClr val="177A55"/>
      </a:accent3>
      <a:accent4>
        <a:srgbClr val="5E7187"/>
      </a:accent4>
      <a:accent5>
        <a:srgbClr val="D6E5F0"/>
      </a:accent5>
      <a:accent6>
        <a:srgbClr val="EEF7FC"/>
      </a:accent6>
      <a:hlink>
        <a:srgbClr val="087EEB"/>
      </a:hlink>
      <a:folHlink>
        <a:srgbClr val="082B59"/>
      </a:folHlink>
    </a:clrScheme>
    <a:fontScheme name="DejaVu Sans">
      <a:majorFont>
        <a:latin typeface="DejaVu Sans"/>
      </a:majorFont>
      <a:minorFont>
        <a:latin typeface="DejaVu Sans"/>
      </a:minorFont>
    </a:fontScheme>
    <a:fmtScheme name="CryoStack">
      <a:fillStyleLst/>
      <a:lnStyleLst/>
      <a:effectStyleLst/>
      <a:bgFillStyleLst/>
    </a:fmtScheme>
  </a:themeElements>
</a:theme>
</file>